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852928"/>
            <a:ext cx="12191695" cy="41148"/>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91640"/>
            <a:ext cx="10515600" cy="914400"/>
          </a:xfrm>
          <a:prstGeom prst="rect">
            <a:avLst/>
          </a:prstGeom>
          <a:noFill/>
        </p:spPr>
        <p:txBody>
          <a:bodyPr wrap="square">
            <a:spAutoFit/>
          </a:bodyPr>
          <a:lstStyle/>
          <a:p>
            <a:pPr algn="l">
              <a:lnSpc>
                <a:spcPct val="115000"/>
              </a:lnSpc>
            </a:pPr>
            <a:r>
              <a:rPr sz="4200" b="1" i="0">
                <a:solidFill>
                  <a:srgbClr val="FFFFFF"/>
                </a:solidFill>
                <a:latin typeface="Segoe UI"/>
              </a:rPr>
              <a:t>MNIST-PRO  ·  ARC Race</a:t>
            </a:r>
          </a:p>
        </p:txBody>
      </p:sp>
      <p:sp>
        <p:nvSpPr>
          <p:cNvPr id="5" name="TextBox 4"/>
          <p:cNvSpPr txBox="1"/>
          <p:nvPr/>
        </p:nvSpPr>
        <p:spPr>
          <a:xfrm>
            <a:off x="914400" y="3035808"/>
            <a:ext cx="10515600" cy="914400"/>
          </a:xfrm>
          <a:prstGeom prst="rect">
            <a:avLst/>
          </a:prstGeom>
          <a:noFill/>
        </p:spPr>
        <p:txBody>
          <a:bodyPr wrap="square">
            <a:spAutoFit/>
          </a:bodyPr>
          <a:lstStyle/>
          <a:p>
            <a:pPr algn="l">
              <a:lnSpc>
                <a:spcPct val="135000"/>
              </a:lnSpc>
            </a:pPr>
            <a:r>
              <a:rPr sz="1800" b="0" i="0">
                <a:solidFill>
                  <a:srgbClr val="B6C3D4"/>
                </a:solidFill>
                <a:latin typeface="Segoe UI"/>
              </a:rPr>
              <a:t>What happens when a person and an AI are given the same problem, at the same moment, with the same information</a:t>
            </a:r>
          </a:p>
        </p:txBody>
      </p:sp>
      <p:sp>
        <p:nvSpPr>
          <p:cNvPr id="6" name="TextBox 5"/>
          <p:cNvSpPr txBox="1"/>
          <p:nvPr/>
        </p:nvSpPr>
        <p:spPr>
          <a:xfrm>
            <a:off x="914400" y="5257800"/>
            <a:ext cx="10515600" cy="822960"/>
          </a:xfrm>
          <a:prstGeom prst="rect">
            <a:avLst/>
          </a:prstGeom>
          <a:noFill/>
        </p:spPr>
        <p:txBody>
          <a:bodyPr wrap="square">
            <a:spAutoFit/>
          </a:bodyPr>
          <a:lstStyle/>
          <a:p>
            <a:pPr algn="l">
              <a:lnSpc>
                <a:spcPct val="150000"/>
              </a:lnSpc>
            </a:pPr>
            <a:r>
              <a:rPr sz="1300" b="0" i="0">
                <a:solidFill>
                  <a:srgbClr val="8D9DB2"/>
                </a:solidFill>
                <a:latin typeface="Segoe UI"/>
              </a:rPr>
              <a:t>panandi.github.io/mnistpro</a:t>
            </a:r>
          </a:p>
          <a:p>
            <a:pPr algn="l">
              <a:lnSpc>
                <a:spcPct val="150000"/>
              </a:lnSpc>
            </a:pPr>
            <a:r>
              <a:rPr sz="1300" b="0" i="0">
                <a:solidFill>
                  <a:srgbClr val="8D9DB2"/>
                </a:solidFill>
                <a:latin typeface="Segoe UI"/>
              </a:rPr>
              <a:t>Runs in the browser  ·  No server  ·  No key needed to play solo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IN ONE LINE</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Recognition is solved. Looking is not.</a:t>
            </a:r>
          </a:p>
        </p:txBody>
      </p:sp>
      <p:sp>
        <p:nvSpPr>
          <p:cNvPr id="6" name="TextBox 5"/>
          <p:cNvSpPr txBox="1"/>
          <p:nvPr/>
        </p:nvSpPr>
        <p:spPr>
          <a:xfrm>
            <a:off x="868680" y="182880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Show a model a whole handwritten digit and it is right 92-98% of the time.</a:t>
            </a:r>
          </a:p>
        </p:txBody>
      </p:sp>
      <p:sp>
        <p:nvSpPr>
          <p:cNvPr id="7" name="TextBox 6"/>
          <p:cNvSpPr txBox="1"/>
          <p:nvPr/>
        </p:nvSpPr>
        <p:spPr>
          <a:xfrm>
            <a:off x="868680" y="2112137"/>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That problem has been finished for years.</a:t>
            </a:r>
          </a:p>
        </p:txBody>
      </p:sp>
      <p:sp>
        <p:nvSpPr>
          <p:cNvPr id="8" name="TextBox 7"/>
          <p:cNvSpPr txBox="1"/>
          <p:nvPr/>
        </p:nvSpPr>
        <p:spPr>
          <a:xfrm>
            <a:off x="868680" y="2557144"/>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Show it the same digit through a small moving window and accuracy collapses to 6.5-61%.</a:t>
            </a:r>
          </a:p>
        </p:txBody>
      </p:sp>
      <p:sp>
        <p:nvSpPr>
          <p:cNvPr id="9" name="TextBox 8"/>
          <p:cNvSpPr txBox="1"/>
          <p:nvPr/>
        </p:nvSpPr>
        <p:spPr>
          <a:xfrm>
            <a:off x="868680" y="2840482"/>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Nothing about the digit changed. What changed is that the model now has to decide where to look next, and remember what it already saw.</a:t>
            </a:r>
          </a:p>
        </p:txBody>
      </p:sp>
      <p:sp>
        <p:nvSpPr>
          <p:cNvPr id="10" name="TextBox 9"/>
          <p:cNvSpPr txBox="1"/>
          <p:nvPr/>
        </p:nvSpPr>
        <p:spPr>
          <a:xfrm>
            <a:off x="868680" y="328548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That gap is the subject of this project, and you can play against it.</a:t>
            </a:r>
          </a:p>
        </p:txBody>
      </p:sp>
      <p:sp>
        <p:nvSpPr>
          <p:cNvPr id="11" name="TextBox 10"/>
          <p:cNvSpPr txBox="1"/>
          <p:nvPr/>
        </p:nvSpPr>
        <p:spPr>
          <a:xfrm>
            <a:off x="868680" y="356882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Two games, both in the browser. You will usually win, and watching how a model loses is more informative than any score.</a:t>
            </a:r>
          </a:p>
        </p:txBody>
      </p:sp>
      <p:sp>
        <p:nvSpPr>
          <p:cNvPr id="12" name="TextBox 11"/>
          <p:cNvSpPr txBox="1"/>
          <p:nvPr/>
        </p:nvSpPr>
        <p:spPr>
          <a:xfrm>
            <a:off x="868680" y="5120640"/>
            <a:ext cx="10607040" cy="822960"/>
          </a:xfrm>
          <a:prstGeom prst="rect">
            <a:avLst/>
          </a:prstGeom>
          <a:noFill/>
        </p:spPr>
        <p:txBody>
          <a:bodyPr wrap="square">
            <a:spAutoFit/>
          </a:bodyPr>
          <a:lstStyle/>
          <a:p>
            <a:pPr algn="l">
              <a:lnSpc>
                <a:spcPct val="130000"/>
              </a:lnSpc>
            </a:pPr>
            <a:r>
              <a:rPr sz="1500" b="1" i="0">
                <a:solidFill>
                  <a:srgbClr val="B56A00"/>
                </a:solidFill>
                <a:latin typeface="Segoe UI"/>
              </a:rPr>
              <a:t>Passive perception is not active perception. A model that reads an image perfectly can still be poor at deciding what to look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36576"/>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10515600" cy="384048"/>
          </a:xfrm>
          <a:prstGeom prst="rect">
            <a:avLst/>
          </a:prstGeom>
          <a:noFill/>
        </p:spPr>
        <p:txBody>
          <a:bodyPr wrap="square">
            <a:spAutoFit/>
          </a:bodyPr>
          <a:lstStyle/>
          <a:p>
            <a:pPr algn="l">
              <a:lnSpc>
                <a:spcPct val="115000"/>
              </a:lnSpc>
            </a:pPr>
            <a:r>
              <a:rPr sz="1300" b="1" i="0">
                <a:solidFill>
                  <a:srgbClr val="00A8BF"/>
                </a:solidFill>
                <a:latin typeface="Segoe UI"/>
              </a:rPr>
              <a:t>PART ONE</a:t>
            </a:r>
          </a:p>
        </p:txBody>
      </p:sp>
      <p:sp>
        <p:nvSpPr>
          <p:cNvPr id="5" name="TextBox 4"/>
          <p:cNvSpPr txBox="1"/>
          <p:nvPr/>
        </p:nvSpPr>
        <p:spPr>
          <a:xfrm>
            <a:off x="914400" y="2240280"/>
            <a:ext cx="10515600" cy="640080"/>
          </a:xfrm>
          <a:prstGeom prst="rect">
            <a:avLst/>
          </a:prstGeom>
          <a:noFill/>
        </p:spPr>
        <p:txBody>
          <a:bodyPr wrap="square">
            <a:spAutoFit/>
          </a:bodyPr>
          <a:lstStyle/>
          <a:p>
            <a:pPr algn="l">
              <a:lnSpc>
                <a:spcPct val="115000"/>
              </a:lnSpc>
            </a:pPr>
            <a:r>
              <a:rPr sz="3400" b="1" i="0">
                <a:solidFill>
                  <a:srgbClr val="FFFFFF"/>
                </a:solidFill>
                <a:latin typeface="Segoe UI"/>
              </a:rPr>
              <a:t>The games</a:t>
            </a:r>
          </a:p>
        </p:txBody>
      </p:sp>
      <p:sp>
        <p:nvSpPr>
          <p:cNvPr id="6" name="TextBox 5"/>
          <p:cNvSpPr txBox="1"/>
          <p:nvPr/>
        </p:nvSpPr>
        <p:spPr>
          <a:xfrm>
            <a:off x="914400" y="3063240"/>
            <a:ext cx="9601200" cy="731520"/>
          </a:xfrm>
          <a:prstGeom prst="rect">
            <a:avLst/>
          </a:prstGeom>
          <a:noFill/>
        </p:spPr>
        <p:txBody>
          <a:bodyPr wrap="square">
            <a:spAutoFit/>
          </a:bodyPr>
          <a:lstStyle/>
          <a:p>
            <a:pPr algn="l">
              <a:lnSpc>
                <a:spcPct val="135000"/>
              </a:lnSpc>
            </a:pPr>
            <a:r>
              <a:rPr sz="1500" b="0" i="0">
                <a:solidFill>
                  <a:srgbClr val="B6C3D4"/>
                </a:solidFill>
                <a:latin typeface="Segoe UI"/>
              </a:rPr>
              <a:t>Two tasks: one needs no prior knowledge at all, the other needs a rule you must infer. Both are played by a person and a model at the same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MNIST-PRO</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A digit behind a moving window</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canvas is 224x224. The window is 64x64 - about 8% of it.</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A handwritten digit fills the canvas; everything outside the window is masked grey. You always start centred on part of the stroke, never on blank space.</a:t>
            </a:r>
          </a:p>
        </p:txBody>
      </p:sp>
      <p:sp>
        <p:nvSpPr>
          <p:cNvPr id="8" name="TextBox 7"/>
          <p:cNvSpPr txBox="1"/>
          <p:nvPr/>
        </p:nvSpPr>
        <p:spPr>
          <a:xfrm>
            <a:off x="868680" y="263639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window moves up, down, left or right, 32px at a time.</a:t>
            </a:r>
          </a:p>
        </p:txBody>
      </p:sp>
      <p:sp>
        <p:nvSpPr>
          <p:cNvPr id="9" name="TextBox 8"/>
          <p:cNvSpPr txBox="1"/>
          <p:nvPr/>
        </p:nvSpPr>
        <p:spPr>
          <a:xfrm>
            <a:off x="868680" y="2919730"/>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Half its own width, so consecutive views overlap. Each move is one sensing step.</a:t>
            </a:r>
          </a:p>
        </p:txBody>
      </p:sp>
      <p:sp>
        <p:nvSpPr>
          <p:cNvPr id="10" name="TextBox 9"/>
          <p:cNvSpPr txBox="1"/>
          <p:nvPr/>
        </p:nvSpPr>
        <p:spPr>
          <a:xfrm>
            <a:off x="868680" y="3282442"/>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Only the current window is visible. The rest is memory.</a:t>
            </a:r>
          </a:p>
        </p:txBody>
      </p:sp>
      <p:sp>
        <p:nvSpPr>
          <p:cNvPr id="11" name="TextBox 10"/>
          <p:cNvSpPr txBox="1"/>
          <p:nvPr/>
        </p:nvSpPr>
        <p:spPr>
          <a:xfrm>
            <a:off x="868680" y="3565779"/>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This is the point of the benchmark, not a limitation of the interface. A 'keep a trail' option relaxes it to the published unbounded-lookback condition.</a:t>
            </a:r>
          </a:p>
        </p:txBody>
      </p:sp>
      <p:sp>
        <p:nvSpPr>
          <p:cNvPr id="12" name="TextBox 11"/>
          <p:cNvSpPr txBox="1"/>
          <p:nvPr/>
        </p:nvSpPr>
        <p:spPr>
          <a:xfrm>
            <a:off x="868680" y="4135754"/>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One answer, 36 steps.</a:t>
            </a:r>
          </a:p>
        </p:txBody>
      </p:sp>
      <p:sp>
        <p:nvSpPr>
          <p:cNvPr id="13" name="TextBox 12"/>
          <p:cNvSpPr txBox="1"/>
          <p:nvPr/>
        </p:nvSpPr>
        <p:spPr>
          <a:xfrm>
            <a:off x="868680" y="4419092"/>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36 is exactly the number of distinct window positions - enough to visit every one once. A wrong answer ends the round.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ON SCREEN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Both lanes, mid-round</a:t>
            </a:r>
          </a:p>
        </p:txBody>
      </p:sp>
      <p:pic>
        <p:nvPicPr>
          <p:cNvPr id="6" name="Picture 5" descr="veils-fixed.png"/>
          <p:cNvPicPr>
            <a:picLocks noChangeAspect="1"/>
          </p:cNvPicPr>
          <p:nvPr/>
        </p:nvPicPr>
        <p:blipFill>
          <a:blip r:embed="rId2"/>
          <a:stretch>
            <a:fillRect/>
          </a:stretch>
        </p:blipFill>
        <p:spPr>
          <a:xfrm>
            <a:off x="868680" y="1691640"/>
            <a:ext cx="10424160" cy="4507348"/>
          </a:xfrm>
          <a:prstGeom prst="rect">
            <a:avLst/>
          </a:prstGeom>
        </p:spPr>
      </p:pic>
      <p:sp>
        <p:nvSpPr>
          <p:cNvPr id="7" name="TextBox 6"/>
          <p:cNvSpPr txBox="1"/>
          <p:nvPr/>
        </p:nvSpPr>
        <p:spPr>
          <a:xfrm>
            <a:off x="868680" y="6272784"/>
            <a:ext cx="10607040" cy="502920"/>
          </a:xfrm>
          <a:prstGeom prst="rect">
            <a:avLst/>
          </a:prstGeom>
          <a:noFill/>
        </p:spPr>
        <p:txBody>
          <a:bodyPr wrap="square">
            <a:spAutoFit/>
          </a:bodyPr>
          <a:lstStyle/>
          <a:p>
            <a:pPr algn="l">
              <a:lnSpc>
                <a:spcPct val="125000"/>
              </a:lnSpc>
            </a:pPr>
            <a:r>
              <a:rPr sz="1100" b="0" i="0">
                <a:solidFill>
                  <a:srgbClr val="5A667A"/>
                </a:solidFill>
                <a:latin typeface="Segoe UI"/>
              </a:rPr>
              <a:t>Left: the player's window. Right: the model's, with the thought it is acting on. Neither lane can see the other's canvas. Captured with a scripted opponent for a stable screenshot - the model quotes later in this deck are verbatim.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RULES</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Fewest sensing steps wins - not fastest</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Correctness gates everything.</a:t>
            </a:r>
          </a:p>
        </p:txBody>
      </p:sp>
      <p:sp>
        <p:nvSpPr>
          <p:cNvPr id="7" name="TextBox 6"/>
          <p:cNvSpPr txBox="1"/>
          <p:nvPr/>
        </p:nvSpPr>
        <p:spPr>
          <a:xfrm>
            <a:off x="868680" y="206641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 lucky one-step guess never beats a careful correct answer.</a:t>
            </a:r>
          </a:p>
        </p:txBody>
      </p:sp>
      <p:sp>
        <p:nvSpPr>
          <p:cNvPr id="8" name="TextBox 7"/>
          <p:cNvSpPr txBox="1"/>
          <p:nvPr/>
        </p:nvSpPr>
        <p:spPr>
          <a:xfrm>
            <a:off x="868680" y="247484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Between two correct answers, fewer sensing steps wins. Equal counts are a tie.</a:t>
            </a:r>
          </a:p>
        </p:txBody>
      </p:sp>
      <p:sp>
        <p:nvSpPr>
          <p:cNvPr id="9" name="TextBox 8"/>
          <p:cNvSpPr txBox="1"/>
          <p:nvPr/>
        </p:nvSpPr>
        <p:spPr>
          <a:xfrm>
            <a:off x="868680" y="2959354"/>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Time is deliberately not scored.</a:t>
            </a:r>
          </a:p>
        </p:txBody>
      </p:sp>
      <p:sp>
        <p:nvSpPr>
          <p:cNvPr id="10" name="TextBox 9"/>
          <p:cNvSpPr txBox="1"/>
          <p:nvPr/>
        </p:nvSpPr>
        <p:spPr>
          <a:xfrm>
            <a:off x="868680" y="3242691"/>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 model answers over a network. Timing the race would measure API latency and connection speed rather than anyone's judgement.</a:t>
            </a:r>
          </a:p>
        </p:txBody>
      </p:sp>
      <p:sp>
        <p:nvSpPr>
          <p:cNvPr id="11" name="TextBox 10"/>
          <p:cNvSpPr txBox="1"/>
          <p:nvPr/>
        </p:nvSpPr>
        <p:spPr>
          <a:xfrm>
            <a:off x="868680" y="365112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This mirrors the benchmark's own reward.</a:t>
            </a:r>
          </a:p>
        </p:txBody>
      </p:sp>
      <p:sp>
        <p:nvSpPr>
          <p:cNvPr id="12" name="TextBox 11"/>
          <p:cNvSpPr txBox="1"/>
          <p:nvPr/>
        </p:nvSpPr>
        <p:spPr>
          <a:xfrm>
            <a:off x="868680" y="3934460"/>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-0.1 per move against +10 for a correct answer and -10 for a wrong one already means 'fewest steps wins'. The game did not invent a scoring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THE OTHER GAME</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ARC Race - infer the hidden rule</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Worked examples show a grid before and after. One hidden rule explains them all.</a:t>
            </a:r>
          </a:p>
        </p:txBody>
      </p:sp>
      <p:sp>
        <p:nvSpPr>
          <p:cNvPr id="7" name="TextBox 6"/>
          <p:cNvSpPr txBox="1"/>
          <p:nvPr/>
        </p:nvSpPr>
        <p:spPr>
          <a:xfrm>
            <a:off x="868680" y="206641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Apply it to a test grid. Three attempts, five minutes, fastest correct answer wins.</a:t>
            </a:r>
          </a:p>
        </p:txBody>
      </p:sp>
      <p:sp>
        <p:nvSpPr>
          <p:cNvPr id="8" name="TextBox 7"/>
          <p:cNvSpPr txBox="1"/>
          <p:nvPr/>
        </p:nvSpPr>
        <p:spPr>
          <a:xfrm>
            <a:off x="868680" y="2392552"/>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Difficulty is measured, not guessed.</a:t>
            </a:r>
          </a:p>
        </p:txBody>
      </p:sp>
      <p:sp>
        <p:nvSpPr>
          <p:cNvPr id="9" name="TextBox 8"/>
          <p:cNvSpPr txBox="1"/>
          <p:nvPr/>
        </p:nvSpPr>
        <p:spPr>
          <a:xfrm>
            <a:off x="868680" y="2675889"/>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A classifier fits simple rules - rotations, mirrors, recolours, scaling, tiling - to all 400 ARC-AGI-1 training tasks. 19 are fully explained by one rule that also predicts the held-out answer. Those 19 are the Easy tier, and the game opens there.</a:t>
            </a:r>
          </a:p>
        </p:txBody>
      </p:sp>
      <p:sp>
        <p:nvSpPr>
          <p:cNvPr id="10" name="TextBox 9"/>
          <p:cNvSpPr txBox="1"/>
          <p:nvPr/>
        </p:nvSpPr>
        <p:spPr>
          <a:xfrm>
            <a:off x="868680" y="320928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Answers are never sent to the browser.</a:t>
            </a:r>
          </a:p>
        </p:txBody>
      </p:sp>
      <p:sp>
        <p:nvSpPr>
          <p:cNvPr id="11" name="TextBox 10"/>
          <p:cNvSpPr txBox="1"/>
          <p:nvPr/>
        </p:nvSpPr>
        <p:spPr>
          <a:xfrm>
            <a:off x="868680" y="3492627"/>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Each task ships a SHA-256 of its answer. A submission is graded by hashing it and comparing digests, so the solution is not readable in the page.</a:t>
            </a:r>
          </a:p>
        </p:txBody>
      </p:sp>
      <p:sp>
        <p:nvSpPr>
          <p:cNvPr id="12" name="TextBox 11"/>
          <p:cNvSpPr txBox="1"/>
          <p:nvPr/>
        </p:nvSpPr>
        <p:spPr>
          <a:xfrm>
            <a:off x="868680" y="4026026"/>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puzzle list shows the size of the ANSWER, not the input.</a:t>
            </a:r>
          </a:p>
        </p:txBody>
      </p:sp>
      <p:sp>
        <p:nvSpPr>
          <p:cNvPr id="13" name="TextBox 12"/>
          <p:cNvSpPr txBox="1"/>
          <p:nvPr/>
        </p:nvSpPr>
        <p:spPr>
          <a:xfrm>
            <a:off x="868680" y="4309364"/>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It used to show the input, which made a 400-cell job look gentle. 109 of 386 need more than 150 cells painted and are now flagged as slow to paint.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36576"/>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10515600" cy="384048"/>
          </a:xfrm>
          <a:prstGeom prst="rect">
            <a:avLst/>
          </a:prstGeom>
          <a:noFill/>
        </p:spPr>
        <p:txBody>
          <a:bodyPr wrap="square">
            <a:spAutoFit/>
          </a:bodyPr>
          <a:lstStyle/>
          <a:p>
            <a:pPr algn="l">
              <a:lnSpc>
                <a:spcPct val="115000"/>
              </a:lnSpc>
            </a:pPr>
            <a:r>
              <a:rPr sz="1300" b="1" i="0">
                <a:solidFill>
                  <a:srgbClr val="00A8BF"/>
                </a:solidFill>
                <a:latin typeface="Segoe UI"/>
              </a:rPr>
              <a:t>PART TWO</a:t>
            </a:r>
          </a:p>
        </p:txBody>
      </p:sp>
      <p:sp>
        <p:nvSpPr>
          <p:cNvPr id="5" name="TextBox 4"/>
          <p:cNvSpPr txBox="1"/>
          <p:nvPr/>
        </p:nvSpPr>
        <p:spPr>
          <a:xfrm>
            <a:off x="914400" y="2240280"/>
            <a:ext cx="10515600" cy="640080"/>
          </a:xfrm>
          <a:prstGeom prst="rect">
            <a:avLst/>
          </a:prstGeom>
          <a:noFill/>
        </p:spPr>
        <p:txBody>
          <a:bodyPr wrap="square">
            <a:spAutoFit/>
          </a:bodyPr>
          <a:lstStyle/>
          <a:p>
            <a:pPr algn="l">
              <a:lnSpc>
                <a:spcPct val="115000"/>
              </a:lnSpc>
            </a:pPr>
            <a:r>
              <a:rPr sz="3400" b="1" i="0">
                <a:solidFill>
                  <a:srgbClr val="FFFFFF"/>
                </a:solidFill>
                <a:latin typeface="Segoe UI"/>
              </a:rPr>
              <a:t>What the AI can actually do</a:t>
            </a:r>
          </a:p>
        </p:txBody>
      </p:sp>
      <p:sp>
        <p:nvSpPr>
          <p:cNvPr id="6" name="TextBox 5"/>
          <p:cNvSpPr txBox="1"/>
          <p:nvPr/>
        </p:nvSpPr>
        <p:spPr>
          <a:xfrm>
            <a:off x="914400" y="3063240"/>
            <a:ext cx="9601200" cy="731520"/>
          </a:xfrm>
          <a:prstGeom prst="rect">
            <a:avLst/>
          </a:prstGeom>
          <a:noFill/>
        </p:spPr>
        <p:txBody>
          <a:bodyPr wrap="square">
            <a:spAutoFit/>
          </a:bodyPr>
          <a:lstStyle/>
          <a:p>
            <a:pPr algn="l">
              <a:lnSpc>
                <a:spcPct val="135000"/>
              </a:lnSpc>
            </a:pPr>
            <a:r>
              <a:rPr sz="1500" b="0" i="0">
                <a:solidFill>
                  <a:srgbClr val="B6C3D4"/>
                </a:solidFill>
                <a:latin typeface="Segoe UI"/>
              </a:rPr>
              <a:t>Published results, and verbatim reasoning from rounds played against the live site. Both the good and the bad are real output, not illustration.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THE HEADLINE</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Whole digits are easy. Exploring for one is not.</a:t>
            </a:r>
          </a:p>
        </p:txBody>
      </p:sp>
      <p:pic>
        <p:nvPicPr>
          <p:cNvPr id="6" name="Picture 5" descr="chart_accuracy.png"/>
          <p:cNvPicPr>
            <a:picLocks noChangeAspect="1"/>
          </p:cNvPicPr>
          <p:nvPr/>
        </p:nvPicPr>
        <p:blipFill>
          <a:blip r:embed="rId2"/>
          <a:stretch>
            <a:fillRect/>
          </a:stretch>
        </p:blipFill>
        <p:spPr>
          <a:xfrm>
            <a:off x="868680" y="1691640"/>
            <a:ext cx="8229600" cy="4023360"/>
          </a:xfrm>
          <a:prstGeom prst="rect">
            <a:avLst/>
          </a:prstGeom>
        </p:spPr>
      </p:pic>
      <p:sp>
        <p:nvSpPr>
          <p:cNvPr id="7" name="TextBox 6"/>
          <p:cNvSpPr txBox="1"/>
          <p:nvPr/>
        </p:nvSpPr>
        <p:spPr>
          <a:xfrm>
            <a:off x="9372600" y="1965960"/>
            <a:ext cx="2377440" cy="2926080"/>
          </a:xfrm>
          <a:prstGeom prst="rect">
            <a:avLst/>
          </a:prstGeom>
          <a:noFill/>
        </p:spPr>
        <p:txBody>
          <a:bodyPr wrap="square">
            <a:spAutoFit/>
          </a:bodyPr>
          <a:lstStyle/>
          <a:p>
            <a:pPr algn="l">
              <a:lnSpc>
                <a:spcPct val="140000"/>
              </a:lnSpc>
            </a:pPr>
            <a:r>
              <a:rPr sz="1350" b="1" i="0">
                <a:solidFill>
                  <a:srgbClr val="141B2D"/>
                </a:solidFill>
                <a:latin typeface="Segoe UI"/>
              </a:rPr>
              <a:t>92-98%</a:t>
            </a:r>
          </a:p>
          <a:p>
            <a:pPr algn="l">
              <a:lnSpc>
                <a:spcPct val="140000"/>
              </a:lnSpc>
            </a:pPr>
            <a:r>
              <a:rPr sz="1350" b="1" i="0">
                <a:solidFill>
                  <a:srgbClr val="141B2D"/>
                </a:solidFill>
                <a:latin typeface="Segoe UI"/>
              </a:rPr>
              <a:t>shown the whole digit</a:t>
            </a:r>
          </a:p>
          <a:p>
            <a:pPr algn="l">
              <a:lnSpc>
                <a:spcPct val="140000"/>
              </a:lnSpc>
            </a:pPr>
          </a:p>
          <a:p>
            <a:pPr algn="l">
              <a:lnSpc>
                <a:spcPct val="140000"/>
              </a:lnSpc>
            </a:pPr>
            <a:r>
              <a:rPr sz="1350" b="1" i="0">
                <a:solidFill>
                  <a:srgbClr val="141B2D"/>
                </a:solidFill>
                <a:latin typeface="Segoe UI"/>
              </a:rPr>
              <a:t>6.5-61%</a:t>
            </a:r>
          </a:p>
          <a:p>
            <a:pPr algn="l">
              <a:lnSpc>
                <a:spcPct val="140000"/>
              </a:lnSpc>
            </a:pPr>
            <a:r>
              <a:rPr sz="1350" b="1" i="0">
                <a:solidFill>
                  <a:srgbClr val="141B2D"/>
                </a:solidFill>
                <a:latin typeface="Segoe UI"/>
              </a:rPr>
              <a:t>through a window</a:t>
            </a:r>
          </a:p>
          <a:p>
            <a:pPr algn="l">
              <a:lnSpc>
                <a:spcPct val="140000"/>
              </a:lnSpc>
            </a:pPr>
          </a:p>
          <a:p>
            <a:pPr algn="l">
              <a:lnSpc>
                <a:spcPct val="140000"/>
              </a:lnSpc>
            </a:pPr>
            <a:r>
              <a:rPr sz="1350" b="1" i="0">
                <a:solidFill>
                  <a:srgbClr val="141B2D"/>
                </a:solidFill>
                <a:latin typeface="Segoe UI"/>
              </a:rPr>
              <a:t>Best: 61%</a:t>
            </a:r>
          </a:p>
          <a:p>
            <a:pPr algn="l">
              <a:lnSpc>
                <a:spcPct val="140000"/>
              </a:lnSpc>
            </a:pPr>
            <a:r>
              <a:rPr sz="1350" b="1" i="0">
                <a:solidFill>
                  <a:srgbClr val="141B2D"/>
                </a:solidFill>
                <a:latin typeface="Segoe UI"/>
              </a:rPr>
              <a:t>Gemini 3.7 Flash</a:t>
            </a:r>
          </a:p>
        </p:txBody>
      </p:sp>
      <p:sp>
        <p:nvSpPr>
          <p:cNvPr id="8" name="TextBox 7"/>
          <p:cNvSpPr txBox="1"/>
          <p:nvPr/>
        </p:nvSpPr>
        <p:spPr>
          <a:xfrm>
            <a:off x="868680" y="6126480"/>
            <a:ext cx="10607040" cy="457200"/>
          </a:xfrm>
          <a:prstGeom prst="rect">
            <a:avLst/>
          </a:prstGeom>
          <a:noFill/>
        </p:spPr>
        <p:txBody>
          <a:bodyPr wrap="square">
            <a:spAutoFit/>
          </a:bodyPr>
          <a:lstStyle/>
          <a:p>
            <a:pPr algn="l">
              <a:lnSpc>
                <a:spcPct val="115000"/>
              </a:lnSpc>
            </a:pPr>
            <a:r>
              <a:rPr sz="1100" b="0" i="0">
                <a:solidFill>
                  <a:srgbClr val="5A667A"/>
                </a:solidFill>
                <a:latin typeface="Segoe UI"/>
              </a:rPr>
              <a:t>Published results, MNIST-PRO (arXiv:2608.31022). The gap is active perception, not recognition.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EFFORT DOES NOT RESCUE IT</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Looking longer is not the same as looking well</a:t>
            </a:r>
          </a:p>
        </p:txBody>
      </p:sp>
      <p:pic>
        <p:nvPicPr>
          <p:cNvPr id="6" name="Picture 5" descr="chart_effort.png"/>
          <p:cNvPicPr>
            <a:picLocks noChangeAspect="1"/>
          </p:cNvPicPr>
          <p:nvPr/>
        </p:nvPicPr>
        <p:blipFill>
          <a:blip r:embed="rId2"/>
          <a:stretch>
            <a:fillRect/>
          </a:stretch>
        </p:blipFill>
        <p:spPr>
          <a:xfrm>
            <a:off x="1371600" y="1691640"/>
            <a:ext cx="7863840" cy="4023360"/>
          </a:xfrm>
          <a:prstGeom prst="rect">
            <a:avLst/>
          </a:prstGeom>
        </p:spPr>
      </p:pic>
      <p:sp>
        <p:nvSpPr>
          <p:cNvPr id="7" name="TextBox 6"/>
          <p:cNvSpPr txBox="1"/>
          <p:nvPr/>
        </p:nvSpPr>
        <p:spPr>
          <a:xfrm>
            <a:off x="868680" y="5989320"/>
            <a:ext cx="10607040" cy="640080"/>
          </a:xfrm>
          <a:prstGeom prst="rect">
            <a:avLst/>
          </a:prstGeom>
          <a:noFill/>
        </p:spPr>
        <p:txBody>
          <a:bodyPr wrap="square">
            <a:spAutoFit/>
          </a:bodyPr>
          <a:lstStyle/>
          <a:p>
            <a:pPr algn="l">
              <a:lnSpc>
                <a:spcPct val="130000"/>
              </a:lnSpc>
            </a:pPr>
            <a:r>
              <a:rPr sz="1200" b="0" i="0">
                <a:solidFill>
                  <a:srgbClr val="5A667A"/>
                </a:solidFill>
                <a:latin typeface="Segoe UI"/>
              </a:rPr>
              <a:t>Claude Sonnet 5 spends 29.6 of its 36 steps and reaches 11.5%. GLM-4.6V spends 4 and reaches 6.5%. Gemini 3.7 Flash spends 18.3 and reaches 61%. Strategy, not budget, separates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CAPABILITY, UP CLOSE</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When it works, it genuinely reasons</a:t>
            </a:r>
          </a:p>
        </p:txBody>
      </p:sp>
      <p:sp>
        <p:nvSpPr>
          <p:cNvPr id="6" name="Rectangle 5"/>
          <p:cNvSpPr/>
          <p:nvPr/>
        </p:nvSpPr>
        <p:spPr>
          <a:xfrm>
            <a:off x="868680" y="1783080"/>
            <a:ext cx="41148" cy="937768"/>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37944"/>
            <a:ext cx="10378440" cy="626871"/>
          </a:xfrm>
          <a:prstGeom prst="rect">
            <a:avLst/>
          </a:prstGeom>
          <a:noFill/>
        </p:spPr>
        <p:txBody>
          <a:bodyPr wrap="square">
            <a:spAutoFit/>
          </a:bodyPr>
          <a:lstStyle/>
          <a:p>
            <a:pPr algn="l">
              <a:lnSpc>
                <a:spcPct val="130000"/>
              </a:lnSpc>
            </a:pPr>
            <a:r>
              <a:rPr sz="1300" b="0" i="1">
                <a:solidFill>
                  <a:srgbClr val="141B2D"/>
                </a:solidFill>
                <a:latin typeface="Segoe UI"/>
              </a:rPr>
              <a:t>"The center is completely white inside. We have traced a single continuous oval loop with a hollow white interior: top arch, right vertical stroke, bottom curve, left vertical stroke. It's a 0."</a:t>
            </a:r>
          </a:p>
        </p:txBody>
      </p:sp>
      <p:sp>
        <p:nvSpPr>
          <p:cNvPr id="8" name="TextBox 7"/>
          <p:cNvSpPr txBox="1"/>
          <p:nvPr/>
        </p:nvSpPr>
        <p:spPr>
          <a:xfrm>
            <a:off x="1051560" y="2464816"/>
            <a:ext cx="10378440" cy="237744"/>
          </a:xfrm>
          <a:prstGeom prst="rect">
            <a:avLst/>
          </a:prstGeom>
          <a:noFill/>
        </p:spPr>
        <p:txBody>
          <a:bodyPr wrap="square">
            <a:spAutoFit/>
          </a:bodyPr>
          <a:lstStyle/>
          <a:p>
            <a:pPr algn="l">
              <a:lnSpc>
                <a:spcPct val="115000"/>
              </a:lnSpc>
            </a:pPr>
            <a:r>
              <a:rPr sz="1050" b="0" i="0">
                <a:solidFill>
                  <a:srgbClr val="5A667A"/>
                </a:solidFill>
                <a:latin typeface="Segoe UI"/>
              </a:rPr>
              <a:t>Gemini 3.8 Flash, answering correctly after tracing the stroke</a:t>
            </a:r>
          </a:p>
        </p:txBody>
      </p:sp>
      <p:sp>
        <p:nvSpPr>
          <p:cNvPr id="9" name="Rectangle 8"/>
          <p:cNvSpPr/>
          <p:nvPr/>
        </p:nvSpPr>
        <p:spPr>
          <a:xfrm>
            <a:off x="868680" y="2940303"/>
            <a:ext cx="41148" cy="706628"/>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995167"/>
            <a:ext cx="10378440" cy="395732"/>
          </a:xfrm>
          <a:prstGeom prst="rect">
            <a:avLst/>
          </a:prstGeom>
          <a:noFill/>
        </p:spPr>
        <p:txBody>
          <a:bodyPr wrap="square">
            <a:spAutoFit/>
          </a:bodyPr>
          <a:lstStyle/>
          <a:p>
            <a:pPr algn="l">
              <a:lnSpc>
                <a:spcPct val="130000"/>
              </a:lnSpc>
            </a:pPr>
            <a:r>
              <a:rPr sz="1300" b="0" i="1">
                <a:solidFill>
                  <a:srgbClr val="141B2D"/>
                </a:solidFill>
                <a:latin typeface="Segoe UI"/>
              </a:rPr>
              <a:t>"Wait, let's see where this connects. Let's move up."</a:t>
            </a:r>
          </a:p>
        </p:txBody>
      </p:sp>
      <p:sp>
        <p:nvSpPr>
          <p:cNvPr id="11" name="TextBox 10"/>
          <p:cNvSpPr txBox="1"/>
          <p:nvPr/>
        </p:nvSpPr>
        <p:spPr>
          <a:xfrm>
            <a:off x="1051560" y="3390899"/>
            <a:ext cx="10378440" cy="237744"/>
          </a:xfrm>
          <a:prstGeom prst="rect">
            <a:avLst/>
          </a:prstGeom>
          <a:noFill/>
        </p:spPr>
        <p:txBody>
          <a:bodyPr wrap="square">
            <a:spAutoFit/>
          </a:bodyPr>
          <a:lstStyle/>
          <a:p>
            <a:pPr algn="l">
              <a:lnSpc>
                <a:spcPct val="115000"/>
              </a:lnSpc>
            </a:pPr>
            <a:r>
              <a:rPr sz="1050" b="0" i="0">
                <a:solidFill>
                  <a:srgbClr val="5A667A"/>
                </a:solidFill>
                <a:latin typeface="Segoe UI"/>
              </a:rPr>
              <a:t>Choosing where to look next, mid-round</a:t>
            </a:r>
          </a:p>
        </p:txBody>
      </p:sp>
      <p:sp>
        <p:nvSpPr>
          <p:cNvPr id="12" name="TextBox 11"/>
          <p:cNvSpPr txBox="1"/>
          <p:nvPr/>
        </p:nvSpPr>
        <p:spPr>
          <a:xfrm>
            <a:off x="868680" y="4003547"/>
            <a:ext cx="10607040" cy="1280160"/>
          </a:xfrm>
          <a:prstGeom prst="rect">
            <a:avLst/>
          </a:prstGeom>
          <a:noFill/>
        </p:spPr>
        <p:txBody>
          <a:bodyPr wrap="square">
            <a:spAutoFit/>
          </a:bodyPr>
          <a:lstStyle/>
          <a:p>
            <a:pPr algn="l">
              <a:lnSpc>
                <a:spcPct val="130000"/>
              </a:lnSpc>
            </a:pPr>
            <a:r>
              <a:rPr sz="1400" b="0" i="0">
                <a:solidFill>
                  <a:srgbClr val="141B2D"/>
                </a:solidFill>
                <a:latin typeface="Segoe UI"/>
              </a:rPr>
              <a:t>That first quote is a correct answer reached by integrating four separate glimpses into one shape. It is a real capability, and it is worth seeing before the failure modes on the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CAPABILITY, UP CLOSE</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How it fails is specific, and repeatable</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It wanders.</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Eleven steps of moving without converging is ordinary. The published mean is 4 to 30 steps depending on the model, and most never reach an answer worth trusting.</a:t>
            </a:r>
          </a:p>
        </p:txBody>
      </p:sp>
      <p:sp>
        <p:nvSpPr>
          <p:cNvPr id="8" name="TextBox 7"/>
          <p:cNvSpPr txBox="1"/>
          <p:nvPr/>
        </p:nvSpPr>
        <p:spPr>
          <a:xfrm>
            <a:off x="868680" y="2663825"/>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It loses the thread and starts narrating.</a:t>
            </a:r>
          </a:p>
        </p:txBody>
      </p:sp>
      <p:sp>
        <p:nvSpPr>
          <p:cNvPr id="9" name="TextBox 8"/>
          <p:cNvSpPr txBox="1"/>
          <p:nvPr/>
        </p:nvSpPr>
        <p:spPr>
          <a:xfrm>
            <a:off x="868680" y="2947162"/>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"Wait, this stroke goes all the way around! Let's see: - Top-left: there was a loop or something? Wait! Let's recall the top-left image..." - the reasoning stops being about the digit and becomes about its own uncertainty.</a:t>
            </a:r>
          </a:p>
        </p:txBody>
      </p:sp>
      <p:sp>
        <p:nvSpPr>
          <p:cNvPr id="10" name="TextBox 9"/>
          <p:cNvSpPr txBox="1"/>
          <p:nvPr/>
        </p:nvSpPr>
        <p:spPr>
          <a:xfrm>
            <a:off x="868680" y="354457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Working memory is the bottleneck, not eyesight.</a:t>
            </a:r>
          </a:p>
        </p:txBody>
      </p:sp>
      <p:sp>
        <p:nvSpPr>
          <p:cNvPr id="11" name="TextBox 10"/>
          <p:cNvSpPr txBox="1"/>
          <p:nvPr/>
        </p:nvSpPr>
        <p:spPr>
          <a:xfrm>
            <a:off x="868680" y="3827907"/>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Each glimpse is perfectly legible. What degrades is holding four of them together and knowing which part of the canvas has not been examined.</a:t>
            </a:r>
          </a:p>
        </p:txBody>
      </p:sp>
      <p:sp>
        <p:nvSpPr>
          <p:cNvPr id="12" name="TextBox 11"/>
          <p:cNvSpPr txBox="1"/>
          <p:nvPr/>
        </p:nvSpPr>
        <p:spPr>
          <a:xfrm>
            <a:off x="868680" y="5440680"/>
            <a:ext cx="10607040" cy="822960"/>
          </a:xfrm>
          <a:prstGeom prst="rect">
            <a:avLst/>
          </a:prstGeom>
          <a:noFill/>
        </p:spPr>
        <p:txBody>
          <a:bodyPr wrap="square">
            <a:spAutoFit/>
          </a:bodyPr>
          <a:lstStyle/>
          <a:p>
            <a:pPr algn="l">
              <a:lnSpc>
                <a:spcPct val="130000"/>
              </a:lnSpc>
            </a:pPr>
            <a:r>
              <a:rPr sz="1400" b="1" i="0">
                <a:solidFill>
                  <a:srgbClr val="B56A00"/>
                </a:solidFill>
                <a:latin typeface="Segoe UI"/>
              </a:rPr>
              <a:t>None of this is a trick question. A person solves the same rounds in 5 to 10 glimpses without noticing they are doing anything clever.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88920"/>
            <a:ext cx="12191695" cy="36576"/>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10515600" cy="384048"/>
          </a:xfrm>
          <a:prstGeom prst="rect">
            <a:avLst/>
          </a:prstGeom>
          <a:noFill/>
        </p:spPr>
        <p:txBody>
          <a:bodyPr wrap="square">
            <a:spAutoFit/>
          </a:bodyPr>
          <a:lstStyle/>
          <a:p>
            <a:pPr algn="l">
              <a:lnSpc>
                <a:spcPct val="115000"/>
              </a:lnSpc>
            </a:pPr>
            <a:r>
              <a:rPr sz="1300" b="1" i="0">
                <a:solidFill>
                  <a:srgbClr val="00A8BF"/>
                </a:solidFill>
                <a:latin typeface="Segoe UI"/>
              </a:rPr>
              <a:t>PART THREE</a:t>
            </a:r>
          </a:p>
        </p:txBody>
      </p:sp>
      <p:sp>
        <p:nvSpPr>
          <p:cNvPr id="5" name="TextBox 4"/>
          <p:cNvSpPr txBox="1"/>
          <p:nvPr/>
        </p:nvSpPr>
        <p:spPr>
          <a:xfrm>
            <a:off x="914400" y="2240280"/>
            <a:ext cx="10515600" cy="640080"/>
          </a:xfrm>
          <a:prstGeom prst="rect">
            <a:avLst/>
          </a:prstGeom>
          <a:noFill/>
        </p:spPr>
        <p:txBody>
          <a:bodyPr wrap="square">
            <a:spAutoFit/>
          </a:bodyPr>
          <a:lstStyle/>
          <a:p>
            <a:pPr algn="l">
              <a:lnSpc>
                <a:spcPct val="115000"/>
              </a:lnSpc>
            </a:pPr>
            <a:r>
              <a:rPr sz="3400" b="1" i="0">
                <a:solidFill>
                  <a:srgbClr val="FFFFFF"/>
                </a:solidFill>
                <a:latin typeface="Segoe UI"/>
              </a:rPr>
              <a:t>How it is built</a:t>
            </a:r>
          </a:p>
        </p:txBody>
      </p:sp>
      <p:sp>
        <p:nvSpPr>
          <p:cNvPr id="6" name="TextBox 5"/>
          <p:cNvSpPr txBox="1"/>
          <p:nvPr/>
        </p:nvSpPr>
        <p:spPr>
          <a:xfrm>
            <a:off x="914400" y="3063240"/>
            <a:ext cx="9601200" cy="731520"/>
          </a:xfrm>
          <a:prstGeom prst="rect">
            <a:avLst/>
          </a:prstGeom>
          <a:noFill/>
        </p:spPr>
        <p:txBody>
          <a:bodyPr wrap="square">
            <a:spAutoFit/>
          </a:bodyPr>
          <a:lstStyle/>
          <a:p>
            <a:pPr algn="l">
              <a:lnSpc>
                <a:spcPct val="135000"/>
              </a:lnSpc>
            </a:pPr>
            <a:r>
              <a:rPr sz="1500" b="0" i="0">
                <a:solidFill>
                  <a:srgbClr val="B6C3D4"/>
                </a:solidFill>
                <a:latin typeface="Segoe UI"/>
              </a:rPr>
              <a:t>A static site with no server that still keeps secrets, generates its data from the benchmark's own code, and is checked against the published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ARCHITECTURE</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A static site that still keeps secrets</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GitHub Pages serves files and cannot run code.</a:t>
            </a:r>
          </a:p>
        </p:txBody>
      </p:sp>
      <p:sp>
        <p:nvSpPr>
          <p:cNvPr id="7" name="TextBox 6"/>
          <p:cNvSpPr txBox="1"/>
          <p:nvPr/>
        </p:nvSpPr>
        <p:spPr>
          <a:xfrm>
            <a:off x="868680" y="206641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So the whole race runs in the browser. There is no server to operate, nothing to attack, and no hosting cost.</a:t>
            </a:r>
          </a:p>
        </p:txBody>
      </p:sp>
      <p:sp>
        <p:nvSpPr>
          <p:cNvPr id="8" name="TextBox 7"/>
          <p:cNvSpPr txBox="1"/>
          <p:nvPr/>
        </p:nvSpPr>
        <p:spPr>
          <a:xfrm>
            <a:off x="868680" y="2392552"/>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No API key is ever in the site.</a:t>
            </a:r>
          </a:p>
        </p:txBody>
      </p:sp>
      <p:sp>
        <p:nvSpPr>
          <p:cNvPr id="9" name="TextBox 8"/>
          <p:cNvSpPr txBox="1"/>
          <p:nvPr/>
        </p:nvSpPr>
        <p:spPr>
          <a:xfrm>
            <a:off x="868680" y="2675889"/>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Solo play needs none at all. To race the AI a visitor supplies their own, held in their browser and sent only to openrouter.ai. The project's own key has never been in the repository, and that is enforced by a check on every commit.</a:t>
            </a:r>
          </a:p>
        </p:txBody>
      </p:sp>
      <p:sp>
        <p:nvSpPr>
          <p:cNvPr id="10" name="TextBox 9"/>
          <p:cNvSpPr txBox="1"/>
          <p:nvPr/>
        </p:nvSpPr>
        <p:spPr>
          <a:xfrm>
            <a:off x="868680" y="320928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ARC answers ship as SHA-256 digests, never as answers.</a:t>
            </a:r>
          </a:p>
        </p:txBody>
      </p:sp>
      <p:sp>
        <p:nvSpPr>
          <p:cNvPr id="11" name="TextBox 10"/>
          <p:cNvSpPr txBox="1"/>
          <p:nvPr/>
        </p:nvSpPr>
        <p:spPr>
          <a:xfrm>
            <a:off x="868680" y="3492627"/>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 submission is graded by hashing it in the browser. MNIST canvases ship as packed bitmaps that Pages gzips to a few hundred bytes each.</a:t>
            </a:r>
          </a:p>
        </p:txBody>
      </p:sp>
      <p:sp>
        <p:nvSpPr>
          <p:cNvPr id="12" name="TextBox 11"/>
          <p:cNvSpPr txBox="1"/>
          <p:nvPr/>
        </p:nvSpPr>
        <p:spPr>
          <a:xfrm>
            <a:off x="868680" y="3818762"/>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An optional FastAPI backend exists for a hosted AI lane.</a:t>
            </a:r>
          </a:p>
        </p:txBody>
      </p:sp>
      <p:sp>
        <p:nvSpPr>
          <p:cNvPr id="13" name="TextBox 12"/>
          <p:cNvSpPr txBox="1"/>
          <p:nvPr/>
        </p:nvSpPr>
        <p:spPr>
          <a:xfrm>
            <a:off x="868680" y="4102099"/>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There the key stays server-side and is never returned to a client. It is not required for either game.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DATA</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Generated by the benchmark, not imitated</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Canvases come from the upstream generators themselves.</a:t>
            </a:r>
          </a:p>
        </p:txBody>
      </p:sp>
      <p:sp>
        <p:nvSpPr>
          <p:cNvPr id="7" name="TextBox 6"/>
          <p:cNvSpPr txBox="1"/>
          <p:nvPr/>
        </p:nvSpPr>
        <p:spPr>
          <a:xfrm>
            <a:off x="868680" y="206641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build_canvas and deterministic_start produce every canvas; episodes are sampled with the benchmark's own sample_balanced at seed 42.</a:t>
            </a:r>
          </a:p>
        </p:txBody>
      </p:sp>
      <p:sp>
        <p:nvSpPr>
          <p:cNvPr id="8" name="TextBox 7"/>
          <p:cNvSpPr txBox="1"/>
          <p:nvPr/>
        </p:nvSpPr>
        <p:spPr>
          <a:xfrm>
            <a:off x="868680" y="2392552"/>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So episode 0 here is episode 0 of the published runs.</a:t>
            </a:r>
          </a:p>
        </p:txBody>
      </p:sp>
      <p:sp>
        <p:nvSpPr>
          <p:cNvPr id="9" name="TextBox 8"/>
          <p:cNvSpPr txBox="1"/>
          <p:nvPr/>
        </p:nvSpPr>
        <p:spPr>
          <a:xfrm>
            <a:off x="868680" y="2675889"/>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Verified against their golden manifest: it starts at [130,130], and two 'up' moves give [130,98] then [130,66] - exactly the trajectory their recorded run produced.</a:t>
            </a:r>
          </a:p>
        </p:txBody>
      </p:sp>
      <p:sp>
        <p:nvSpPr>
          <p:cNvPr id="10" name="TextBox 9"/>
          <p:cNvSpPr txBox="1"/>
          <p:nvPr/>
        </p:nvSpPr>
        <p:spPr>
          <a:xfrm>
            <a:off x="868680" y="320928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Only what must run live was ported to JavaScript.</a:t>
            </a:r>
          </a:p>
        </p:txBody>
      </p:sp>
      <p:sp>
        <p:nvSpPr>
          <p:cNvPr id="11" name="TextBox 10"/>
          <p:cNvSpPr txBox="1"/>
          <p:nvPr/>
        </p:nvSpPr>
        <p:spPr>
          <a:xfrm>
            <a:off x="868680" y="3492627"/>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Movement clamping, the one-shot answer, the step limit, and the masking that render_observation performs. The rendered canvas is checked against the shipped bitmap pixel for pixel.</a:t>
            </a:r>
          </a:p>
        </p:txBody>
      </p:sp>
      <p:sp>
        <p:nvSpPr>
          <p:cNvPr id="12" name="TextBox 11"/>
          <p:cNvSpPr txBox="1"/>
          <p:nvPr/>
        </p:nvSpPr>
        <p:spPr>
          <a:xfrm>
            <a:off x="868680" y="4026026"/>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200 MNIST-PRO episodes, balanced across all ten digits; 386 ARC tasks.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HIGH-LEVEL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Three parties, one of them optional</a:t>
            </a:r>
          </a:p>
        </p:txBody>
      </p:sp>
      <p:pic>
        <p:nvPicPr>
          <p:cNvPr id="6" name="Picture 5" descr="chart_hld.png"/>
          <p:cNvPicPr>
            <a:picLocks noChangeAspect="1"/>
          </p:cNvPicPr>
          <p:nvPr/>
        </p:nvPicPr>
        <p:blipFill>
          <a:blip r:embed="rId2"/>
          <a:stretch>
            <a:fillRect/>
          </a:stretch>
        </p:blipFill>
        <p:spPr>
          <a:xfrm>
            <a:off x="868680" y="1600200"/>
            <a:ext cx="10424160" cy="4572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HIGH-LEVEL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Where the trust boundaries fall</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static origin holds no secrets, because it cannot hold anything.</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GitHub Pages serves bytes. Every ARC answer it serves is a SHA-256 digest, and every MNIST canvas is a packed bitmap - correct to render, useless as an answer key.</a:t>
            </a:r>
          </a:p>
        </p:txBody>
      </p:sp>
      <p:sp>
        <p:nvSpPr>
          <p:cNvPr id="8" name="TextBox 7"/>
          <p:cNvSpPr txBox="1"/>
          <p:nvPr/>
        </p:nvSpPr>
        <p:spPr>
          <a:xfrm>
            <a:off x="868680" y="2599817"/>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browser is the only place a key exists, and only if the visitor brings one.</a:t>
            </a:r>
          </a:p>
        </p:txBody>
      </p:sp>
      <p:sp>
        <p:nvSpPr>
          <p:cNvPr id="9" name="TextBox 8"/>
          <p:cNvSpPr txBox="1"/>
          <p:nvPr/>
        </p:nvSpPr>
        <p:spPr>
          <a:xfrm>
            <a:off x="868680" y="2883154"/>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Held in localStorage, sent to openrouter.ai and nowhere else. Solo play never needs one, and the project's own key has never been in the repository.</a:t>
            </a:r>
          </a:p>
        </p:txBody>
      </p:sp>
      <p:sp>
        <p:nvSpPr>
          <p:cNvPr id="10" name="TextBox 9"/>
          <p:cNvSpPr txBox="1"/>
          <p:nvPr/>
        </p:nvSpPr>
        <p:spPr>
          <a:xfrm>
            <a:off x="868680" y="341655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model sees one glimpse at a time and nothing else.</a:t>
            </a:r>
          </a:p>
        </p:txBody>
      </p:sp>
      <p:sp>
        <p:nvSpPr>
          <p:cNvPr id="11" name="TextBox 10"/>
          <p:cNvSpPr txBox="1"/>
          <p:nvPr/>
        </p:nvSpPr>
        <p:spPr>
          <a:xfrm>
            <a:off x="868680" y="3699890"/>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 PNG of the current window plus the running transcript. It never receives the whole canvas, the label, or the human's progress.</a:t>
            </a:r>
          </a:p>
        </p:txBody>
      </p:sp>
      <p:sp>
        <p:nvSpPr>
          <p:cNvPr id="12" name="TextBox 11"/>
          <p:cNvSpPr txBox="1"/>
          <p:nvPr/>
        </p:nvSpPr>
        <p:spPr>
          <a:xfrm>
            <a:off x="868680" y="4026026"/>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backend is optional and currently undeployed.</a:t>
            </a:r>
          </a:p>
        </p:txBody>
      </p:sp>
      <p:sp>
        <p:nvSpPr>
          <p:cNvPr id="13" name="TextBox 12"/>
          <p:cNvSpPr txBox="1"/>
          <p:nvPr/>
        </p:nvSpPr>
        <p:spPr>
          <a:xfrm>
            <a:off x="868680" y="4309364"/>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It exists for a hosted AI lane where the key stays server-side. Neither game needs it, which is why there is no server to operate or attack.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What each file is responsible for</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docs/js/mnistpro.js  -  746 lines</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The MNIST-PRO client. Ports env.py: newLane, move, applyAction, and a REASON enum of answered / step_limit / invalid_action / stopped. Plus draw() mirroring render_observation, and the agent loop: runAi, callModel, extractJson, normaliseAction.</a:t>
            </a:r>
          </a:p>
        </p:txBody>
      </p:sp>
      <p:sp>
        <p:nvSpPr>
          <p:cNvPr id="8" name="TextBox 7"/>
          <p:cNvSpPr txBox="1"/>
          <p:nvPr/>
        </p:nvSpPr>
        <p:spPr>
          <a:xfrm>
            <a:off x="868680" y="258152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docs/js/game.js  -  971 lines</a:t>
            </a:r>
          </a:p>
        </p:txBody>
      </p:sp>
      <p:sp>
        <p:nvSpPr>
          <p:cNvPr id="9" name="TextBox 8"/>
          <p:cNvSpPr txBox="1"/>
          <p:nvPr/>
        </p:nvSpPr>
        <p:spPr>
          <a:xfrm>
            <a:off x="868680" y="286486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 ARC client: grid editor, SHA-256 grading, five-minute clock, its own agent loop.</a:t>
            </a:r>
          </a:p>
        </p:txBody>
      </p:sp>
      <p:sp>
        <p:nvSpPr>
          <p:cNvPr id="10" name="TextBox 9"/>
          <p:cNvSpPr txBox="1"/>
          <p:nvPr/>
        </p:nvSpPr>
        <p:spPr>
          <a:xfrm>
            <a:off x="868680" y="317271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docs/css/styles.css  -  1026 lines  ·  index.html, arc.html, guide.html</a:t>
            </a:r>
          </a:p>
        </p:txBody>
      </p:sp>
      <p:sp>
        <p:nvSpPr>
          <p:cNvPr id="11" name="TextBox 10"/>
          <p:cNvSpPr txBox="1"/>
          <p:nvPr/>
        </p:nvSpPr>
        <p:spPr>
          <a:xfrm>
            <a:off x="868680" y="3456050"/>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One stylesheet for both games. No framework, no build step, no bundler.</a:t>
            </a:r>
          </a:p>
        </p:txBody>
      </p:sp>
      <p:sp>
        <p:nvSpPr>
          <p:cNvPr id="12" name="TextBox 11"/>
          <p:cNvSpPr txBox="1"/>
          <p:nvPr/>
        </p:nvSpPr>
        <p:spPr>
          <a:xfrm>
            <a:off x="868680" y="376389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backend/app/  -  optional FastAPI service</a:t>
            </a:r>
          </a:p>
        </p:txBody>
      </p:sp>
      <p:sp>
        <p:nvSpPr>
          <p:cNvPr id="13" name="TextBox 12"/>
          <p:cNvSpPr txBox="1"/>
          <p:nvPr/>
        </p:nvSpPr>
        <p:spPr>
          <a:xfrm>
            <a:off x="868680" y="404723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core/config.py holds the only secret; services/ has arc_service, session_manager and openrouter_agent; schemas/models.py validates every grid before it is trusted.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One AI step, end to end</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1.  Render the observation.</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draw() fills the canvas grey, pastes the 64px window from the unpacked bitmap and strokes the cyan border - the same masking render_observation performs. observationPng() forces a single window even when the spectator view shows a trail.</a:t>
            </a:r>
          </a:p>
        </p:txBody>
      </p:sp>
      <p:sp>
        <p:nvSpPr>
          <p:cNvPr id="8" name="TextBox 7"/>
          <p:cNvSpPr txBox="1"/>
          <p:nvPr/>
        </p:nvSpPr>
        <p:spPr>
          <a:xfrm>
            <a:off x="868680" y="2572385"/>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2.  Ask the model.</a:t>
            </a:r>
          </a:p>
        </p:txBody>
      </p:sp>
      <p:sp>
        <p:nvSpPr>
          <p:cNvPr id="9" name="TextBox 8"/>
          <p:cNvSpPr txBox="1"/>
          <p:nvPr/>
        </p:nvSpPr>
        <p:spPr>
          <a:xfrm>
            <a:off x="868680" y="2855722"/>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callModel posts the PNG plus the transcript, max_tokens 2000, and reads finish_reason. A truncated reply is retried with double the budget rather than repeated unchanged.</a:t>
            </a:r>
          </a:p>
        </p:txBody>
      </p:sp>
      <p:sp>
        <p:nvSpPr>
          <p:cNvPr id="10" name="TextBox 9"/>
          <p:cNvSpPr txBox="1"/>
          <p:nvPr/>
        </p:nvSpPr>
        <p:spPr>
          <a:xfrm>
            <a:off x="868680" y="336169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3.  Read the action.</a:t>
            </a:r>
          </a:p>
        </p:txBody>
      </p:sp>
      <p:sp>
        <p:nvSpPr>
          <p:cNvPr id="11" name="TextBox 10"/>
          <p:cNvSpPr txBox="1"/>
          <p:nvPr/>
        </p:nvSpPr>
        <p:spPr>
          <a:xfrm>
            <a:off x="868680" y="3645027"/>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extractJson strips code fences and scans every balanced object, preferring the last one that names an action. normaliseAction trims and lowercases it, so "Right." is honoured - an unrecognised verb still ends the episode, as the benchmark intends.</a:t>
            </a:r>
          </a:p>
        </p:txBody>
      </p:sp>
      <p:sp>
        <p:nvSpPr>
          <p:cNvPr id="12" name="TextBox 11"/>
          <p:cNvSpPr txBox="1"/>
          <p:nvPr/>
        </p:nvSpPr>
        <p:spPr>
          <a:xfrm>
            <a:off x="868680" y="4150995"/>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4.  Apply it, or refuse and say why.</a:t>
            </a:r>
          </a:p>
        </p:txBody>
      </p:sp>
      <p:sp>
        <p:nvSpPr>
          <p:cNvPr id="13" name="TextBox 12"/>
          <p:cNvSpPr txBox="1"/>
          <p:nvPr/>
        </p:nvSpPr>
        <p:spPr>
          <a:xfrm>
            <a:off x="868680" y="4434332"/>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applyAction reports whether it applied. A reply arriving after the round ended is discarded and logged rather than scored.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The two data contracts</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MNIST-PRO episode  -  data/mnistpro/episodes/epNNN.json</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id, label, source_index, width 224, height 224, box_size 64, step_size 32, max_steps 36, start [x,y], and bits: the stroke bitmap packed one pixel per bit as base64. 200 episodes, 2.5 MB, gzipped to a few hundred bytes each in transit.</a:t>
            </a:r>
          </a:p>
        </p:txBody>
      </p:sp>
      <p:sp>
        <p:nvSpPr>
          <p:cNvPr id="8" name="TextBox 7"/>
          <p:cNvSpPr txBox="1"/>
          <p:nvPr/>
        </p:nvSpPr>
        <p:spPr>
          <a:xfrm>
            <a:off x="868680" y="258152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ARC task  -  data/tasks/&lt;id&gt;.json</a:t>
            </a:r>
          </a:p>
        </p:txBody>
      </p:sp>
      <p:sp>
        <p:nvSpPr>
          <p:cNvPr id="9" name="TextBox 8"/>
          <p:cNvSpPr txBox="1"/>
          <p:nvPr/>
        </p:nvSpPr>
        <p:spPr>
          <a:xfrm>
            <a:off x="868680" y="286486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id, train, test_input, answer_sha256, answer_rows, answer_cols, and for the easy tier a tier and hint. The answer itself is never present. 386 tasks, 1.4 MB.</a:t>
            </a:r>
          </a:p>
        </p:txBody>
      </p:sp>
      <p:sp>
        <p:nvSpPr>
          <p:cNvPr id="10" name="TextBox 9"/>
          <p:cNvSpPr txBox="1"/>
          <p:nvPr/>
        </p:nvSpPr>
        <p:spPr>
          <a:xfrm>
            <a:off x="868680" y="3379978"/>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Grading is a hash comparison, not a lookup.</a:t>
            </a:r>
          </a:p>
        </p:txBody>
      </p:sp>
      <p:sp>
        <p:nvSpPr>
          <p:cNvPr id="11" name="TextBox 10"/>
          <p:cNvSpPr txBox="1"/>
          <p:nvPr/>
        </p:nvSpPr>
        <p:spPr>
          <a:xfrm>
            <a:off x="868680" y="3663314"/>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 browser hashes the submitted grid and compares digests, so a correct answer is recognised without the answer being in the page.</a:t>
            </a:r>
          </a:p>
        </p:txBody>
      </p:sp>
      <p:sp>
        <p:nvSpPr>
          <p:cNvPr id="12" name="TextBox 11"/>
          <p:cNvSpPr txBox="1"/>
          <p:nvPr/>
        </p:nvSpPr>
        <p:spPr>
          <a:xfrm>
            <a:off x="868680" y="397116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Episode ids are the benchmark's own.</a:t>
            </a:r>
          </a:p>
        </p:txBody>
      </p:sp>
      <p:sp>
        <p:nvSpPr>
          <p:cNvPr id="13" name="TextBox 12"/>
          <p:cNvSpPr txBox="1"/>
          <p:nvPr/>
        </p:nvSpPr>
        <p:spPr>
          <a:xfrm>
            <a:off x="868680" y="4254500"/>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Sampled with its sample_balanced at seed 42, so episode 0 here is episode 0 of the published runs - checked against their golden manifest.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How a lane can end, and who decides</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answered  -  the only outcome that can win.</a:t>
            </a:r>
          </a:p>
        </p:txBody>
      </p:sp>
      <p:sp>
        <p:nvSpPr>
          <p:cNvPr id="7" name="TextBox 6"/>
          <p:cNvSpPr txBox="1"/>
          <p:nvPr/>
        </p:nvSpPr>
        <p:spPr>
          <a:xfrm>
            <a:off x="868680" y="206641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One answer per round: correct ends it, and so does wrong.</a:t>
            </a:r>
          </a:p>
        </p:txBody>
      </p:sp>
      <p:sp>
        <p:nvSpPr>
          <p:cNvPr id="8" name="TextBox 7"/>
          <p:cNvSpPr txBox="1"/>
          <p:nvPr/>
        </p:nvSpPr>
        <p:spPr>
          <a:xfrm>
            <a:off x="868680" y="2419985"/>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step_limit  -  36 actions spent without answering.</a:t>
            </a:r>
          </a:p>
        </p:txBody>
      </p:sp>
      <p:sp>
        <p:nvSpPr>
          <p:cNvPr id="9" name="TextBox 8"/>
          <p:cNvSpPr txBox="1"/>
          <p:nvPr/>
        </p:nvSpPr>
        <p:spPr>
          <a:xfrm>
            <a:off x="868680" y="2703322"/>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36 is exactly the number of distinct window positions.</a:t>
            </a:r>
          </a:p>
        </p:txBody>
      </p:sp>
      <p:sp>
        <p:nvSpPr>
          <p:cNvPr id="10" name="TextBox 9"/>
          <p:cNvSpPr txBox="1"/>
          <p:nvPr/>
        </p:nvSpPr>
        <p:spPr>
          <a:xfrm>
            <a:off x="868680" y="305689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invalid_action  -  an unrecognised verb, or no usable action after three attempts.</a:t>
            </a:r>
          </a:p>
        </p:txBody>
      </p:sp>
      <p:sp>
        <p:nvSpPr>
          <p:cNvPr id="11" name="TextBox 10"/>
          <p:cNvSpPr txBox="1"/>
          <p:nvPr/>
        </p:nvSpPr>
        <p:spPr>
          <a:xfrm>
            <a:off x="868680" y="3340227"/>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The benchmark scores malformed actions rather than raising, and so does this. The reply is now shown on screen, so the cause is visible instead of guessed at.</a:t>
            </a:r>
          </a:p>
        </p:txBody>
      </p:sp>
      <p:sp>
        <p:nvSpPr>
          <p:cNvPr id="12" name="TextBox 11"/>
          <p:cNvSpPr txBox="1"/>
          <p:nvPr/>
        </p:nvSpPr>
        <p:spPr>
          <a:xfrm>
            <a:off x="868680" y="390105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stopped  -  a person pressed STOP.</a:t>
            </a:r>
          </a:p>
        </p:txBody>
      </p:sp>
      <p:sp>
        <p:nvSpPr>
          <p:cNvPr id="13" name="TextBox 12"/>
          <p:cNvSpPr txBox="1"/>
          <p:nvPr/>
        </p:nvSpPr>
        <p:spPr>
          <a:xfrm>
            <a:off x="868680" y="4184396"/>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Kept distinct from running out of steps, because reporting it as the latter was a lie the interface told for several days.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Human and AI over one round</a:t>
            </a:r>
          </a:p>
        </p:txBody>
      </p:sp>
      <p:pic>
        <p:nvPicPr>
          <p:cNvPr id="6" name="Picture 5" descr="chart_sequence.png"/>
          <p:cNvPicPr>
            <a:picLocks noChangeAspect="1"/>
          </p:cNvPicPr>
          <p:nvPr/>
        </p:nvPicPr>
        <p:blipFill>
          <a:blip r:embed="rId2"/>
          <a:stretch>
            <a:fillRect/>
          </a:stretch>
        </p:blipFill>
        <p:spPr>
          <a:xfrm>
            <a:off x="868680" y="1572768"/>
            <a:ext cx="10424160" cy="493776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HOW THE AI DECIDES</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The agent loop, and every way it can end</a:t>
            </a:r>
          </a:p>
        </p:txBody>
      </p:sp>
      <p:pic>
        <p:nvPicPr>
          <p:cNvPr id="6" name="Picture 5" descr="chart_agentloop.png"/>
          <p:cNvPicPr>
            <a:picLocks noChangeAspect="1"/>
          </p:cNvPicPr>
          <p:nvPr/>
        </p:nvPicPr>
        <p:blipFill>
          <a:blip r:embed="rId2"/>
          <a:stretch>
            <a:fillRect/>
          </a:stretch>
        </p:blipFill>
        <p:spPr>
          <a:xfrm>
            <a:off x="868680" y="1572768"/>
            <a:ext cx="10424160" cy="4754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HOW THE AI DECIDES</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What the model is actually sent</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System instruction - verbatim from the benchmark's specs.py</a:t>
            </a:r>
          </a:p>
        </p:txBody>
      </p:sp>
      <p:sp>
        <p:nvSpPr>
          <p:cNvPr id="7" name="TextBox 6"/>
          <p:cNvSpPr txBox="1"/>
          <p:nvPr/>
        </p:nvSpPr>
        <p:spPr>
          <a:xfrm>
            <a:off x="868680" y="2066416"/>
            <a:ext cx="10607040" cy="621792"/>
          </a:xfrm>
          <a:prstGeom prst="rect">
            <a:avLst/>
          </a:prstGeom>
          <a:noFill/>
        </p:spPr>
        <p:txBody>
          <a:bodyPr wrap="square">
            <a:spAutoFit/>
          </a:bodyPr>
          <a:lstStyle/>
          <a:p>
            <a:pPr algn="l">
              <a:lnSpc>
                <a:spcPct val="125000"/>
              </a:lnSpc>
            </a:pPr>
            <a:r>
              <a:rPr sz="1200" b="0" i="0">
                <a:solidFill>
                  <a:srgbClr val="5A667A"/>
                </a:solidFill>
                <a:latin typeface="Segoe UI"/>
              </a:rPr>
              <a:t>"You are an active vision agent playing a game to identify an MNIST digit... The digit is drawn in black on a white background, and unseen areas are masked in dark gray... you only have one chance to provide the final answer." Move as {"action":"move","direction":"up"}; answer as {"action":"answer","value":&lt;digit&gt;}.</a:t>
            </a:r>
          </a:p>
        </p:txBody>
      </p:sp>
      <p:sp>
        <p:nvSpPr>
          <p:cNvPr id="8" name="TextBox 7"/>
          <p:cNvSpPr txBox="1"/>
          <p:nvPr/>
        </p:nvSpPr>
        <p:spPr>
          <a:xfrm>
            <a:off x="868680" y="278879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Each turn carries one PNG and nothing else.</a:t>
            </a:r>
          </a:p>
        </p:txBody>
      </p:sp>
      <p:sp>
        <p:nvSpPr>
          <p:cNvPr id="9" name="TextBox 8"/>
          <p:cNvSpPr txBox="1"/>
          <p:nvPr/>
        </p:nvSpPr>
        <p:spPr>
          <a:xfrm>
            <a:off x="868680" y="3072130"/>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The 224x224 canvas masked to the current 64px window - the same bytes drawn on screen. Never the whole canvas, never the label, never the human's progress.</a:t>
            </a:r>
          </a:p>
        </p:txBody>
      </p:sp>
      <p:sp>
        <p:nvSpPr>
          <p:cNvPr id="10" name="TextBox 9"/>
          <p:cNvSpPr txBox="1"/>
          <p:nvPr/>
        </p:nvSpPr>
        <p:spPr>
          <a:xfrm>
            <a:off x="868680" y="3587242"/>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transcript grows; the instruction is sent once.</a:t>
            </a:r>
          </a:p>
        </p:txBody>
      </p:sp>
      <p:sp>
        <p:nvSpPr>
          <p:cNvPr id="11" name="TextBox 10"/>
          <p:cNvSpPr txBox="1"/>
          <p:nvPr/>
        </p:nvSpPr>
        <p:spPr>
          <a:xfrm>
            <a:off x="868680" y="3870578"/>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Mirrors the benchmark's natural turn mode: the text instruction goes in the first user turn only, each later turn is just the new image, and the model's own replies stay between them. By step 20 it is reasoning over 20 images and its own 19 answers.</a:t>
            </a:r>
          </a:p>
        </p:txBody>
      </p:sp>
      <p:sp>
        <p:nvSpPr>
          <p:cNvPr id="12" name="TextBox 11"/>
          <p:cNvSpPr txBox="1"/>
          <p:nvPr/>
        </p:nvSpPr>
        <p:spPr>
          <a:xfrm>
            <a:off x="868680" y="4385691"/>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It is asked for a 'thought' key, and that is what you watch on screen.</a:t>
            </a:r>
          </a:p>
        </p:txBody>
      </p:sp>
      <p:sp>
        <p:nvSpPr>
          <p:cNvPr id="13" name="TextBox 12"/>
          <p:cNvSpPr txBox="1"/>
          <p:nvPr/>
        </p:nvSpPr>
        <p:spPr>
          <a:xfrm>
            <a:off x="868680" y="4669028"/>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 narration is the benchmark's textual_state memory condition, not decoration.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Lane state, and the ported environment</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Each lane is one object, identical for human and model.</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 x, y, steps, moves, visited[], done, reason, answer, success } - so the same applyAction() scores both, and neither can be given a rule the other lacks.</a:t>
            </a:r>
          </a:p>
        </p:txBody>
      </p:sp>
      <p:sp>
        <p:nvSpPr>
          <p:cNvPr id="8" name="TextBox 7"/>
          <p:cNvSpPr txBox="1"/>
          <p:nvPr/>
        </p:nvSpPr>
        <p:spPr>
          <a:xfrm>
            <a:off x="868680" y="258152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Movement is clamped, never wrapped.</a:t>
            </a:r>
          </a:p>
        </p:txBody>
      </p:sp>
      <p:sp>
        <p:nvSpPr>
          <p:cNvPr id="9" name="TextBox 8"/>
          <p:cNvSpPr txBox="1"/>
          <p:nvPr/>
        </p:nvSpPr>
        <p:spPr>
          <a:xfrm>
            <a:off x="868680" y="286486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up: y = max(0, y - 32)   ·   down: y = min(height - box, y + 32), and the same for x. From [130,130] an 'up' gives [130,98] - the trajectory the published run recorded.</a:t>
            </a:r>
          </a:p>
        </p:txBody>
      </p:sp>
      <p:sp>
        <p:nvSpPr>
          <p:cNvPr id="10" name="TextBox 9"/>
          <p:cNvSpPr txBox="1"/>
          <p:nvPr/>
        </p:nvSpPr>
        <p:spPr>
          <a:xfrm>
            <a:off x="868680" y="3379978"/>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steps counts every action; moves counts only sensing.</a:t>
            </a:r>
          </a:p>
        </p:txBody>
      </p:sp>
      <p:sp>
        <p:nvSpPr>
          <p:cNvPr id="11" name="TextBox 10"/>
          <p:cNvSpPr txBox="1"/>
          <p:nvPr/>
        </p:nvSpPr>
        <p:spPr>
          <a:xfrm>
            <a:off x="868680" y="3663314"/>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 answer costs a step but not a move, which is why the scoreboard reads 'sensing steps' and decide() compares lane.moves.</a:t>
            </a:r>
          </a:p>
        </p:txBody>
      </p:sp>
      <p:sp>
        <p:nvSpPr>
          <p:cNvPr id="12" name="TextBox 11"/>
          <p:cNvSpPr txBox="1"/>
          <p:nvPr/>
        </p:nvSpPr>
        <p:spPr>
          <a:xfrm>
            <a:off x="868680" y="397116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36 steps, one answer, four terminal reasons.</a:t>
            </a:r>
          </a:p>
        </p:txBody>
      </p:sp>
      <p:sp>
        <p:nvSpPr>
          <p:cNvPr id="13" name="TextBox 12"/>
          <p:cNvSpPr txBox="1"/>
          <p:nvPr/>
        </p:nvSpPr>
        <p:spPr>
          <a:xfrm>
            <a:off x="868680" y="4254500"/>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answered, step_limit, invalid_action, stopped. applyAction returns false on a finished lane, so a late reply cannot be scored.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LOW-LEVEL 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decide(): who wins, in full</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if both correct  -&gt;  fewer moves wins; equal moves is a tie.</a:t>
            </a:r>
          </a:p>
        </p:txBody>
      </p:sp>
      <p:sp>
        <p:nvSpPr>
          <p:cNvPr id="7" name="TextBox 6"/>
          <p:cNvSpPr txBox="1"/>
          <p:nvPr/>
        </p:nvSpPr>
        <p:spPr>
          <a:xfrm>
            <a:off x="868680" y="2212721"/>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if exactly one correct  -&gt;  that lane wins, regardless of moves.</a:t>
            </a:r>
          </a:p>
        </p:txBody>
      </p:sp>
      <p:sp>
        <p:nvSpPr>
          <p:cNvPr id="8" name="TextBox 7"/>
          <p:cNvSpPr txBox="1"/>
          <p:nvPr/>
        </p:nvSpPr>
        <p:spPr>
          <a:xfrm>
            <a:off x="868680" y="2496058"/>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A wrong answer in 2 steps never beats a correct answer in 20.</a:t>
            </a:r>
          </a:p>
        </p:txBody>
      </p:sp>
      <p:sp>
        <p:nvSpPr>
          <p:cNvPr id="9" name="TextBox 8"/>
          <p:cNvSpPr txBox="1"/>
          <p:nvPr/>
        </p:nvSpPr>
        <p:spPr>
          <a:xfrm>
            <a:off x="868680" y="2849626"/>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if neither correct  -&gt;  no winner.</a:t>
            </a:r>
          </a:p>
        </p:txBody>
      </p:sp>
      <p:sp>
        <p:nvSpPr>
          <p:cNvPr id="10" name="TextBox 9"/>
          <p:cNvSpPr txBox="1"/>
          <p:nvPr/>
        </p:nvSpPr>
        <p:spPr>
          <a:xfrm>
            <a:off x="868680" y="3132963"/>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Running out of steps and answering wrongly are both losses, but they are reported separately on the scoreboard.</a:t>
            </a:r>
          </a:p>
        </p:txBody>
      </p:sp>
      <p:sp>
        <p:nvSpPr>
          <p:cNvPr id="11" name="TextBox 10"/>
          <p:cNvSpPr txBox="1"/>
          <p:nvPr/>
        </p:nvSpPr>
        <p:spPr>
          <a:xfrm>
            <a:off x="868680" y="3486531"/>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Latency is never consulted.</a:t>
            </a:r>
          </a:p>
        </p:txBody>
      </p:sp>
      <p:sp>
        <p:nvSpPr>
          <p:cNvPr id="12" name="TextBox 11"/>
          <p:cNvSpPr txBox="1"/>
          <p:nvPr/>
        </p:nvSpPr>
        <p:spPr>
          <a:xfrm>
            <a:off x="868680" y="3769867"/>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The human lane resolves in microseconds and the model lane over a network. Scoring on elapsed time would measure the connection, so decide() only ever reads moves and success - and maybeFinish() waits for the human lane before ending the race at 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DESIGN</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Decisions, and why they went that way</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ARC first, MNIST-PRO second.</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ARC asks you to infer a rule in five minutes. That turned out to be the wrong kind of hard for a party game, so a task needing no prior knowledge became the front page.</a:t>
            </a:r>
          </a:p>
        </p:txBody>
      </p:sp>
      <p:sp>
        <p:nvSpPr>
          <p:cNvPr id="8" name="TextBox 7"/>
          <p:cNvSpPr txBox="1"/>
          <p:nvPr/>
        </p:nvSpPr>
        <p:spPr>
          <a:xfrm>
            <a:off x="868680" y="2590673"/>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Difficulty measured rather than asserted.</a:t>
            </a:r>
          </a:p>
        </p:txBody>
      </p:sp>
      <p:sp>
        <p:nvSpPr>
          <p:cNvPr id="9" name="TextBox 8"/>
          <p:cNvSpPr txBox="1"/>
          <p:nvPr/>
        </p:nvSpPr>
        <p:spPr>
          <a:xfrm>
            <a:off x="868680" y="2874010"/>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For ARC, a classifier found the 19 tasks a single rule explains. For MNIST-PRO, a simulation of 400 digits set the window size: 8x8 tiles end a round in 2 glimpses, 2x2 in 15. 4x4 was the playable middle.</a:t>
            </a:r>
          </a:p>
        </p:txBody>
      </p:sp>
      <p:sp>
        <p:nvSpPr>
          <p:cNvPr id="10" name="TextBox 9"/>
          <p:cNvSpPr txBox="1"/>
          <p:nvPr/>
        </p:nvSpPr>
        <p:spPr>
          <a:xfrm>
            <a:off x="868680" y="3398266"/>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Steps, not seconds.</a:t>
            </a:r>
          </a:p>
        </p:txBody>
      </p:sp>
      <p:sp>
        <p:nvSpPr>
          <p:cNvPr id="11" name="TextBox 10"/>
          <p:cNvSpPr txBox="1"/>
          <p:nvPr/>
        </p:nvSpPr>
        <p:spPr>
          <a:xfrm>
            <a:off x="868680" y="3681603"/>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Suggested by the first player to look at it, and correct: timing a networked opponent measures latency.</a:t>
            </a:r>
          </a:p>
        </p:txBody>
      </p:sp>
      <p:sp>
        <p:nvSpPr>
          <p:cNvPr id="12" name="TextBox 11"/>
          <p:cNvSpPr txBox="1"/>
          <p:nvPr/>
        </p:nvSpPr>
        <p:spPr>
          <a:xfrm>
            <a:off x="868680" y="3998595"/>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rules panel collapsed by default.</a:t>
            </a:r>
          </a:p>
        </p:txBody>
      </p:sp>
      <p:sp>
        <p:nvSpPr>
          <p:cNvPr id="13" name="TextBox 12"/>
          <p:cNvSpPr txBox="1"/>
          <p:nvPr/>
        </p:nvSpPr>
        <p:spPr>
          <a:xfrm>
            <a:off x="868680" y="4281932"/>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It occupied the top of both games before anyone had pressed anything.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WHAT BUILDING IT TAUGHT US</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The tests agreed with me more often than they should have</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Five real bugs were caught by looking at screenshots, not by assertions.</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A correct answer reported as 'Wrong - it answered null'. Panels frozen on a stale state. Overlays sitting on top of live canvases. Sensible actions rejected on formatting. A reply cut off by a token budget and scored as malformed.</a:t>
            </a:r>
          </a:p>
        </p:txBody>
      </p:sp>
      <p:sp>
        <p:nvSpPr>
          <p:cNvPr id="8" name="TextBox 7"/>
          <p:cNvSpPr txBox="1"/>
          <p:nvPr/>
        </p:nvSpPr>
        <p:spPr>
          <a:xfrm>
            <a:off x="868680" y="2581529"/>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The common thread: asserting intent instead of outcome.</a:t>
            </a:r>
          </a:p>
        </p:txBody>
      </p:sp>
      <p:sp>
        <p:nvSpPr>
          <p:cNvPr id="9" name="TextBox 8"/>
          <p:cNvSpPr txBox="1"/>
          <p:nvPr/>
        </p:nvSpPr>
        <p:spPr>
          <a:xfrm>
            <a:off x="868680" y="286486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Tests checked that hidden was set - it was - while the element stayed on screen, because an explicit CSS display beats the hidden attribute. Every such test passed throughout.</a:t>
            </a:r>
          </a:p>
        </p:txBody>
      </p:sp>
      <p:sp>
        <p:nvSpPr>
          <p:cNvPr id="10" name="TextBox 9"/>
          <p:cNvSpPr txBox="1"/>
          <p:nvPr/>
        </p:nvSpPr>
        <p:spPr>
          <a:xfrm>
            <a:off x="868680" y="3379978"/>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Fixes applied per-place rather than once come back.</a:t>
            </a:r>
          </a:p>
        </p:txBody>
      </p:sp>
      <p:sp>
        <p:nvSpPr>
          <p:cNvPr id="11" name="TextBox 10"/>
          <p:cNvSpPr txBox="1"/>
          <p:nvPr/>
        </p:nvSpPr>
        <p:spPr>
          <a:xfrm>
            <a:off x="868680" y="3663314"/>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The hidden-attribute bug was patched in four components before being fixed globally. The token-budget check existed in two other code paths and was missing from the third.</a:t>
            </a:r>
          </a:p>
        </p:txBody>
      </p:sp>
      <p:sp>
        <p:nvSpPr>
          <p:cNvPr id="12" name="TextBox 11"/>
          <p:cNvSpPr txBox="1"/>
          <p:nvPr/>
        </p:nvSpPr>
        <p:spPr>
          <a:xfrm>
            <a:off x="868680" y="4178427"/>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Diagnostics are a feature.</a:t>
            </a:r>
          </a:p>
        </p:txBody>
      </p:sp>
      <p:sp>
        <p:nvSpPr>
          <p:cNvPr id="13" name="TextBox 12"/>
          <p:cNvSpPr txBox="1"/>
          <p:nvPr/>
        </p:nvSpPr>
        <p:spPr>
          <a:xfrm>
            <a:off x="868680" y="4461764"/>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The failure message now shows the model's actual reply. The bug that took three rounds to identify would have been obvious in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66928"/>
            <a:ext cx="82296" cy="420624"/>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502920"/>
            <a:ext cx="10058400" cy="310896"/>
          </a:xfrm>
          <a:prstGeom prst="rect">
            <a:avLst/>
          </a:prstGeom>
          <a:noFill/>
        </p:spPr>
        <p:txBody>
          <a:bodyPr wrap="square">
            <a:spAutoFit/>
          </a:bodyPr>
          <a:lstStyle/>
          <a:p>
            <a:pPr algn="l">
              <a:lnSpc>
                <a:spcPct val="115000"/>
              </a:lnSpc>
            </a:pPr>
            <a:r>
              <a:rPr sz="1100" b="1" i="0">
                <a:solidFill>
                  <a:srgbClr val="5A667A"/>
                </a:solidFill>
                <a:latin typeface="Segoe UI"/>
              </a:rPr>
              <a:t>CREDITS</a:t>
            </a:r>
          </a:p>
        </p:txBody>
      </p:sp>
      <p:sp>
        <p:nvSpPr>
          <p:cNvPr id="5" name="TextBox 4"/>
          <p:cNvSpPr txBox="1"/>
          <p:nvPr/>
        </p:nvSpPr>
        <p:spPr>
          <a:xfrm>
            <a:off x="841248" y="841248"/>
            <a:ext cx="10607040" cy="566928"/>
          </a:xfrm>
          <a:prstGeom prst="rect">
            <a:avLst/>
          </a:prstGeom>
          <a:noFill/>
        </p:spPr>
        <p:txBody>
          <a:bodyPr wrap="square">
            <a:spAutoFit/>
          </a:bodyPr>
          <a:lstStyle/>
          <a:p>
            <a:pPr algn="l">
              <a:lnSpc>
                <a:spcPct val="115000"/>
              </a:lnSpc>
            </a:pPr>
            <a:r>
              <a:rPr sz="2800" b="1" i="0">
                <a:solidFill>
                  <a:srgbClr val="141B2D"/>
                </a:solidFill>
                <a:latin typeface="Segoe UI"/>
              </a:rPr>
              <a:t>Standing on other people's work</a:t>
            </a:r>
          </a:p>
        </p:txBody>
      </p:sp>
      <p:sp>
        <p:nvSpPr>
          <p:cNvPr id="6" name="TextBox 5"/>
          <p:cNvSpPr txBox="1"/>
          <p:nvPr/>
        </p:nvSpPr>
        <p:spPr>
          <a:xfrm>
            <a:off x="868680" y="1783080"/>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MNIST-PRO  -  MIT</a:t>
            </a:r>
          </a:p>
        </p:txBody>
      </p:sp>
      <p:sp>
        <p:nvSpPr>
          <p:cNvPr id="7" name="TextBox 6"/>
          <p:cNvSpPr txBox="1"/>
          <p:nvPr/>
        </p:nvSpPr>
        <p:spPr>
          <a:xfrm>
            <a:off x="868680" y="2066416"/>
            <a:ext cx="10607040" cy="414528"/>
          </a:xfrm>
          <a:prstGeom prst="rect">
            <a:avLst/>
          </a:prstGeom>
          <a:noFill/>
        </p:spPr>
        <p:txBody>
          <a:bodyPr wrap="square">
            <a:spAutoFit/>
          </a:bodyPr>
          <a:lstStyle/>
          <a:p>
            <a:pPr algn="l">
              <a:lnSpc>
                <a:spcPct val="125000"/>
              </a:lnSpc>
            </a:pPr>
            <a:r>
              <a:rPr sz="1200" b="0" i="0">
                <a:solidFill>
                  <a:srgbClr val="5A667A"/>
                </a:solidFill>
                <a:latin typeface="Segoe UI"/>
              </a:rPr>
              <a:t>Toh, Majumder, Liu, Chen and Poria. DeCLaRe Lab, Nanyang Technological University, and A*STAR. arXiv:2608.31022  ·  github.com/declare-lab/MNIST-PRO</a:t>
            </a:r>
          </a:p>
        </p:txBody>
      </p:sp>
      <p:sp>
        <p:nvSpPr>
          <p:cNvPr id="8" name="TextBox 7"/>
          <p:cNvSpPr txBox="1"/>
          <p:nvPr/>
        </p:nvSpPr>
        <p:spPr>
          <a:xfrm>
            <a:off x="868680" y="2663825"/>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MNIST  -  CC BY-SA 3.0</a:t>
            </a:r>
          </a:p>
        </p:txBody>
      </p:sp>
      <p:sp>
        <p:nvSpPr>
          <p:cNvPr id="9" name="TextBox 8"/>
          <p:cNvSpPr txBox="1"/>
          <p:nvPr/>
        </p:nvSpPr>
        <p:spPr>
          <a:xfrm>
            <a:off x="868680" y="2947162"/>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LeCun, Cortes and Burges, derived from NIST Special Database 19.</a:t>
            </a:r>
          </a:p>
        </p:txBody>
      </p:sp>
      <p:sp>
        <p:nvSpPr>
          <p:cNvPr id="10" name="TextBox 9"/>
          <p:cNvSpPr txBox="1"/>
          <p:nvPr/>
        </p:nvSpPr>
        <p:spPr>
          <a:xfrm>
            <a:off x="868680" y="3337306"/>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ARC-AGI-1  -  Apache 2.0</a:t>
            </a:r>
          </a:p>
        </p:txBody>
      </p:sp>
      <p:sp>
        <p:nvSpPr>
          <p:cNvPr id="11" name="TextBox 10"/>
          <p:cNvSpPr txBox="1"/>
          <p:nvPr/>
        </p:nvSpPr>
        <p:spPr>
          <a:xfrm>
            <a:off x="868680" y="3620643"/>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Francois Chollet. The public training set, used unmodified.</a:t>
            </a:r>
          </a:p>
        </p:txBody>
      </p:sp>
      <p:sp>
        <p:nvSpPr>
          <p:cNvPr id="12" name="TextBox 11"/>
          <p:cNvSpPr txBox="1"/>
          <p:nvPr/>
        </p:nvSpPr>
        <p:spPr>
          <a:xfrm>
            <a:off x="868680" y="4010787"/>
            <a:ext cx="10607040" cy="246761"/>
          </a:xfrm>
          <a:prstGeom prst="rect">
            <a:avLst/>
          </a:prstGeom>
          <a:noFill/>
        </p:spPr>
        <p:txBody>
          <a:bodyPr wrap="square">
            <a:spAutoFit/>
          </a:bodyPr>
          <a:lstStyle/>
          <a:p>
            <a:pPr algn="l">
              <a:lnSpc>
                <a:spcPct val="115000"/>
              </a:lnSpc>
            </a:pPr>
            <a:r>
              <a:rPr sz="1450" b="1" i="0">
                <a:solidFill>
                  <a:srgbClr val="141B2D"/>
                </a:solidFill>
                <a:latin typeface="Segoe UI"/>
              </a:rPr>
              <a:t>Licences are retained in the repository.</a:t>
            </a:r>
          </a:p>
        </p:txBody>
      </p:sp>
      <p:sp>
        <p:nvSpPr>
          <p:cNvPr id="13" name="TextBox 12"/>
          <p:cNvSpPr txBox="1"/>
          <p:nvPr/>
        </p:nvSpPr>
        <p:spPr>
          <a:xfrm>
            <a:off x="868680" y="4294124"/>
            <a:ext cx="10607040" cy="207264"/>
          </a:xfrm>
          <a:prstGeom prst="rect">
            <a:avLst/>
          </a:prstGeom>
          <a:noFill/>
        </p:spPr>
        <p:txBody>
          <a:bodyPr wrap="square">
            <a:spAutoFit/>
          </a:bodyPr>
          <a:lstStyle/>
          <a:p>
            <a:pPr algn="l">
              <a:lnSpc>
                <a:spcPct val="125000"/>
              </a:lnSpc>
            </a:pPr>
            <a:r>
              <a:rPr sz="1200" b="0" i="0">
                <a:solidFill>
                  <a:srgbClr val="5A667A"/>
                </a:solidFill>
                <a:latin typeface="Segoe UI"/>
              </a:rPr>
              <a:t>third_party/mnist-pro/LICENSE, with attribution files beside the generated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97480"/>
            <a:ext cx="12191695" cy="41148"/>
          </a:xfrm>
          <a:prstGeom prst="rect">
            <a:avLst/>
          </a:prstGeom>
          <a:solidFill>
            <a:srgbClr val="00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10515600" cy="822960"/>
          </a:xfrm>
          <a:prstGeom prst="rect">
            <a:avLst/>
          </a:prstGeom>
          <a:noFill/>
        </p:spPr>
        <p:txBody>
          <a:bodyPr wrap="square">
            <a:spAutoFit/>
          </a:bodyPr>
          <a:lstStyle/>
          <a:p>
            <a:pPr algn="l">
              <a:lnSpc>
                <a:spcPct val="115000"/>
              </a:lnSpc>
            </a:pPr>
            <a:r>
              <a:rPr sz="3800" b="1" i="0">
                <a:solidFill>
                  <a:srgbClr val="FFFFFF"/>
                </a:solidFill>
                <a:latin typeface="Segoe UI"/>
              </a:rPr>
              <a:t>Play it</a:t>
            </a:r>
          </a:p>
        </p:txBody>
      </p:sp>
      <p:sp>
        <p:nvSpPr>
          <p:cNvPr id="5" name="TextBox 4"/>
          <p:cNvSpPr txBox="1"/>
          <p:nvPr/>
        </p:nvSpPr>
        <p:spPr>
          <a:xfrm>
            <a:off x="914400" y="2971800"/>
            <a:ext cx="10515600" cy="2194560"/>
          </a:xfrm>
          <a:prstGeom prst="rect">
            <a:avLst/>
          </a:prstGeom>
          <a:noFill/>
        </p:spPr>
        <p:txBody>
          <a:bodyPr wrap="square">
            <a:spAutoFit/>
          </a:bodyPr>
          <a:lstStyle/>
          <a:p>
            <a:pPr algn="l">
              <a:lnSpc>
                <a:spcPct val="190000"/>
              </a:lnSpc>
            </a:pPr>
            <a:r>
              <a:rPr sz="1550" b="0" i="0">
                <a:solidFill>
                  <a:srgbClr val="D4DEEA"/>
                </a:solidFill>
                <a:latin typeface="Segoe UI"/>
              </a:rPr>
              <a:t>MNIST-PRO        panandi.github.io/mnistpro</a:t>
            </a:r>
          </a:p>
          <a:p>
            <a:pPr algn="l">
              <a:lnSpc>
                <a:spcPct val="190000"/>
              </a:lnSpc>
            </a:pPr>
            <a:r>
              <a:rPr sz="1550" b="0" i="0">
                <a:solidFill>
                  <a:srgbClr val="D4DEEA"/>
                </a:solidFill>
                <a:latin typeface="Segoe UI"/>
              </a:rPr>
              <a:t>ARC Race         panandi.github.io/mnistpro/arc.html</a:t>
            </a:r>
          </a:p>
          <a:p>
            <a:pPr algn="l">
              <a:lnSpc>
                <a:spcPct val="190000"/>
              </a:lnSpc>
            </a:pPr>
            <a:r>
              <a:rPr sz="1550" b="0" i="0">
                <a:solidFill>
                  <a:srgbClr val="D4DEEA"/>
                </a:solidFill>
                <a:latin typeface="Segoe UI"/>
              </a:rPr>
              <a:t>Player's guide   panandi.github.io/mnistpro/guide.html</a:t>
            </a:r>
          </a:p>
          <a:p>
            <a:pPr algn="l">
              <a:lnSpc>
                <a:spcPct val="190000"/>
              </a:lnSpc>
            </a:pPr>
            <a:r>
              <a:rPr sz="1550" b="0" i="0">
                <a:solidFill>
                  <a:srgbClr val="D4DEEA"/>
                </a:solidFill>
                <a:latin typeface="Segoe UI"/>
              </a:rPr>
              <a:t>Source           github.com/panandi/mnistpro</a:t>
            </a:r>
          </a:p>
        </p:txBody>
      </p:sp>
      <p:sp>
        <p:nvSpPr>
          <p:cNvPr id="6" name="TextBox 5"/>
          <p:cNvSpPr txBox="1"/>
          <p:nvPr/>
        </p:nvSpPr>
        <p:spPr>
          <a:xfrm>
            <a:off x="914400" y="5715000"/>
            <a:ext cx="10515600" cy="548640"/>
          </a:xfrm>
          <a:prstGeom prst="rect">
            <a:avLst/>
          </a:prstGeom>
          <a:noFill/>
        </p:spPr>
        <p:txBody>
          <a:bodyPr wrap="square">
            <a:spAutoFit/>
          </a:bodyPr>
          <a:lstStyle/>
          <a:p>
            <a:pPr algn="l">
              <a:lnSpc>
                <a:spcPct val="115000"/>
              </a:lnSpc>
            </a:pPr>
            <a:r>
              <a:rPr sz="1300" b="0" i="0">
                <a:solidFill>
                  <a:srgbClr val="8D9DB2"/>
                </a:solidFill>
                <a:latin typeface="Segoe UI"/>
              </a:rPr>
              <a:t>No install, no sign-up, no key needed to play solo. Bring an OpenRouter key if you want to race the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